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embeddedFontLst>
    <p:embeddedFont>
      <p:font typeface="Crimson Pro SemiBold" panose="020B0604020202020204" charset="0"/>
      <p:regular r:id="rId14"/>
    </p:embeddedFont>
    <p:embeddedFont>
      <p:font typeface="Heebo" pitchFamily="2" charset="-79"/>
      <p:regular r:id="rId15"/>
    </p:embeddedFont>
    <p:embeddedFont>
      <p:font typeface="Heebo Bold" panose="020B0604020202020204" charset="-79"/>
      <p:regular r:id="rId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96482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6A669F-D357-5AAC-8D7F-E8DF5BD63D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B82DC0-E82F-26FB-C02C-FE9D8674B8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6AA87C-2DFA-B8E5-E211-68816C4CAF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4B07E5-F995-D2AC-60D5-8EB9A3705B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82933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0F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7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svg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16.jpeg"/><Relationship Id="rId7" Type="http://schemas.openxmlformats.org/officeDocument/2006/relationships/image" Target="../media/image20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svg"/><Relationship Id="rId5" Type="http://schemas.openxmlformats.org/officeDocument/2006/relationships/image" Target="../media/image18.svg"/><Relationship Id="rId4" Type="http://schemas.openxmlformats.org/officeDocument/2006/relationships/image" Target="../media/image17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21.svg"/><Relationship Id="rId7" Type="http://schemas.openxmlformats.org/officeDocument/2006/relationships/image" Target="../media/image25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svg"/><Relationship Id="rId5" Type="http://schemas.openxmlformats.org/officeDocument/2006/relationships/image" Target="../media/image23.svg"/><Relationship Id="rId4" Type="http://schemas.openxmlformats.org/officeDocument/2006/relationships/image" Target="../media/image22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1841302"/>
            <a:ext cx="6296860" cy="1771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Международная система стандартов ISO в программной инженерии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3896717"/>
            <a:ext cx="5755367" cy="651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Эволюция: от первых физических стандартов до ISO/IEC 12207 и ISO/IEC 25023</a:t>
            </a:r>
            <a:endParaRPr lang="en-US" sz="1450" dirty="0"/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43BF17FC-A8D5-4561-C1A8-49EDA56AF536}"/>
              </a:ext>
            </a:extLst>
          </p:cNvPr>
          <p:cNvSpPr/>
          <p:nvPr/>
        </p:nvSpPr>
        <p:spPr>
          <a:xfrm>
            <a:off x="661475" y="4871510"/>
            <a:ext cx="2089746" cy="12432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3000"/>
              </a:lnSpc>
            </a:pPr>
            <a:r>
              <a:rPr lang="ru-RU" sz="16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Выполнили:</a:t>
            </a:r>
          </a:p>
          <a:p>
            <a:pPr>
              <a:lnSpc>
                <a:spcPct val="133000"/>
              </a:lnSpc>
            </a:pPr>
            <a:r>
              <a:rPr lang="ru-RU" sz="16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Шишковец Андрей</a:t>
            </a:r>
            <a:br>
              <a:rPr lang="ru-RU" sz="16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</a:br>
            <a:r>
              <a:rPr lang="ru-RU" sz="16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Турусинов Роман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6738"/>
            <a:ext cx="10868745" cy="5233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От «гаек и болтов» к программной инженерии</a:t>
            </a:r>
            <a:endParaRPr lang="en-US" sz="3250" dirty="0"/>
          </a:p>
        </p:txBody>
      </p:sp>
      <p:sp>
        <p:nvSpPr>
          <p:cNvPr id="3" name="Shape 1"/>
          <p:cNvSpPr/>
          <p:nvPr/>
        </p:nvSpPr>
        <p:spPr>
          <a:xfrm>
            <a:off x="6086323" y="1386780"/>
            <a:ext cx="19050" cy="4904482"/>
          </a:xfrm>
          <a:prstGeom prst="roundRect">
            <a:avLst>
              <a:gd name="adj" fmla="val 49999"/>
            </a:avLst>
          </a:prstGeom>
          <a:solidFill>
            <a:srgbClr val="D8D4D4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" name="Shape 2"/>
          <p:cNvSpPr/>
          <p:nvPr/>
        </p:nvSpPr>
        <p:spPr>
          <a:xfrm>
            <a:off x="5424203" y="1565573"/>
            <a:ext cx="502332" cy="19050"/>
          </a:xfrm>
          <a:prstGeom prst="roundRect">
            <a:avLst>
              <a:gd name="adj" fmla="val 49999"/>
            </a:avLst>
          </a:prstGeom>
          <a:solidFill>
            <a:srgbClr val="D8D4D4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5" name="Shape 3"/>
          <p:cNvSpPr/>
          <p:nvPr/>
        </p:nvSpPr>
        <p:spPr>
          <a:xfrm>
            <a:off x="5907485" y="1386780"/>
            <a:ext cx="376724" cy="376734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/>
          <p:nvPr/>
        </p:nvSpPr>
        <p:spPr>
          <a:xfrm>
            <a:off x="5970240" y="1418134"/>
            <a:ext cx="251116" cy="3139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1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661475" y="1444327"/>
            <a:ext cx="4597087" cy="261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6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1947 год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61475" y="1794966"/>
            <a:ext cx="4597087" cy="5052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26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Основание ISO для унификации и упрощения международной торговли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65160" y="2532063"/>
            <a:ext cx="502332" cy="19050"/>
          </a:xfrm>
          <a:prstGeom prst="roundRect">
            <a:avLst>
              <a:gd name="adj" fmla="val 49999"/>
            </a:avLst>
          </a:prstGeom>
          <a:solidFill>
            <a:srgbClr val="D8D4D4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0" name="Shape 8"/>
          <p:cNvSpPr/>
          <p:nvPr/>
        </p:nvSpPr>
        <p:spPr>
          <a:xfrm>
            <a:off x="5907485" y="2353270"/>
            <a:ext cx="376724" cy="376734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1" name="Text 9"/>
          <p:cNvSpPr/>
          <p:nvPr/>
        </p:nvSpPr>
        <p:spPr>
          <a:xfrm>
            <a:off x="5970240" y="2384623"/>
            <a:ext cx="251116" cy="3139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2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6933134" y="2410817"/>
            <a:ext cx="4597087" cy="261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Первые стандарты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933134" y="2761456"/>
            <a:ext cx="4597087" cy="5052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Физические величины, метрические системы, допуски в машиностроении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24203" y="3378994"/>
            <a:ext cx="502332" cy="19050"/>
          </a:xfrm>
          <a:prstGeom prst="roundRect">
            <a:avLst>
              <a:gd name="adj" fmla="val 49999"/>
            </a:avLst>
          </a:prstGeom>
          <a:solidFill>
            <a:srgbClr val="D8D4D4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5" name="Shape 13"/>
          <p:cNvSpPr/>
          <p:nvPr/>
        </p:nvSpPr>
        <p:spPr>
          <a:xfrm>
            <a:off x="5907485" y="3200202"/>
            <a:ext cx="376724" cy="376734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6" name="Text 14"/>
          <p:cNvSpPr/>
          <p:nvPr/>
        </p:nvSpPr>
        <p:spPr>
          <a:xfrm>
            <a:off x="5970240" y="3231555"/>
            <a:ext cx="251116" cy="3139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3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661475" y="3257748"/>
            <a:ext cx="4597087" cy="261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6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1970-е – 1980-е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61475" y="3608387"/>
            <a:ext cx="4597087" cy="5052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26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Взрывной рост сложности ПО, кризис программных проектов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265160" y="4225925"/>
            <a:ext cx="502332" cy="19050"/>
          </a:xfrm>
          <a:prstGeom prst="roundRect">
            <a:avLst>
              <a:gd name="adj" fmla="val 49999"/>
            </a:avLst>
          </a:prstGeom>
          <a:solidFill>
            <a:srgbClr val="D8D4D4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0" name="Shape 18"/>
          <p:cNvSpPr/>
          <p:nvPr/>
        </p:nvSpPr>
        <p:spPr>
          <a:xfrm>
            <a:off x="5907485" y="4047133"/>
            <a:ext cx="376724" cy="376734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1" name="Text 19"/>
          <p:cNvSpPr/>
          <p:nvPr/>
        </p:nvSpPr>
        <p:spPr>
          <a:xfrm>
            <a:off x="5970240" y="4078486"/>
            <a:ext cx="251116" cy="3139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4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6933134" y="4104680"/>
            <a:ext cx="4597087" cy="261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Парадокс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933134" y="4455319"/>
            <a:ext cx="4597087" cy="5052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«Железо» стандартизировано, а код — невидим и неуправляем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24203" y="5072856"/>
            <a:ext cx="502332" cy="19050"/>
          </a:xfrm>
          <a:prstGeom prst="roundRect">
            <a:avLst>
              <a:gd name="adj" fmla="val 49999"/>
            </a:avLst>
          </a:prstGeom>
          <a:solidFill>
            <a:srgbClr val="D8D4D4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5" name="Shape 23"/>
          <p:cNvSpPr/>
          <p:nvPr/>
        </p:nvSpPr>
        <p:spPr>
          <a:xfrm>
            <a:off x="5907485" y="4894064"/>
            <a:ext cx="376724" cy="376734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6" name="Text 24"/>
          <p:cNvSpPr/>
          <p:nvPr/>
        </p:nvSpPr>
        <p:spPr>
          <a:xfrm>
            <a:off x="5970240" y="4925417"/>
            <a:ext cx="251116" cy="3139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5</a:t>
            </a:r>
            <a:endParaRPr lang="en-US" sz="1950" dirty="0"/>
          </a:p>
        </p:txBody>
      </p:sp>
      <p:sp>
        <p:nvSpPr>
          <p:cNvPr id="27" name="Text 25"/>
          <p:cNvSpPr/>
          <p:nvPr/>
        </p:nvSpPr>
        <p:spPr>
          <a:xfrm>
            <a:off x="661475" y="4951611"/>
            <a:ext cx="4597087" cy="261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6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Вывод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61475" y="5302250"/>
            <a:ext cx="4597087" cy="5052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26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ПО нужно превратить из «искусства» в строгую инженерию</a:t>
            </a:r>
            <a:endParaRPr lang="en-US" sz="1300" dirty="0"/>
          </a:p>
        </p:txBody>
      </p:sp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86CB9215-19CF-75C0-8F13-49339B4653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37385" y="6446484"/>
            <a:ext cx="1554615" cy="41151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586482"/>
            <a:ext cx="6296860" cy="10632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Как ISO вошла в Программную инженерию</a:t>
            </a:r>
            <a:endParaRPr lang="en-US" sz="3300" dirty="0"/>
          </a:p>
        </p:txBody>
      </p:sp>
      <p:sp>
        <p:nvSpPr>
          <p:cNvPr id="4" name="Shape 1"/>
          <p:cNvSpPr/>
          <p:nvPr/>
        </p:nvSpPr>
        <p:spPr>
          <a:xfrm>
            <a:off x="5233360" y="1879302"/>
            <a:ext cx="382677" cy="382687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5" name="Text 2"/>
          <p:cNvSpPr/>
          <p:nvPr/>
        </p:nvSpPr>
        <p:spPr>
          <a:xfrm>
            <a:off x="5297107" y="1911152"/>
            <a:ext cx="255085" cy="31888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5769128" y="1937742"/>
            <a:ext cx="5761092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1987 год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5769128" y="2295227"/>
            <a:ext cx="5761092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Создание подкомитета ISO/IEC JTC 1/SC 7 (Системная и программная инженерия)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233360" y="3118545"/>
            <a:ext cx="382677" cy="382687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9" name="Text 6"/>
          <p:cNvSpPr/>
          <p:nvPr/>
        </p:nvSpPr>
        <p:spPr>
          <a:xfrm>
            <a:off x="5297107" y="3150394"/>
            <a:ext cx="255085" cy="31888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5769128" y="3176984"/>
            <a:ext cx="5761092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Первый шаг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5769128" y="3534470"/>
            <a:ext cx="5761092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Адаптация стандартов качества (серия ISO 9000) для IT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233360" y="4099223"/>
            <a:ext cx="382677" cy="382687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3" name="Text 10"/>
          <p:cNvSpPr/>
          <p:nvPr/>
        </p:nvSpPr>
        <p:spPr>
          <a:xfrm>
            <a:off x="5297107" y="4131072"/>
            <a:ext cx="255085" cy="31888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5769128" y="4157662"/>
            <a:ext cx="5761092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Осознание</a:t>
            </a:r>
            <a:endParaRPr lang="en-US" sz="1650" dirty="0"/>
          </a:p>
        </p:txBody>
      </p:sp>
      <p:sp>
        <p:nvSpPr>
          <p:cNvPr id="15" name="Text 12"/>
          <p:cNvSpPr/>
          <p:nvPr/>
        </p:nvSpPr>
        <p:spPr>
          <a:xfrm>
            <a:off x="5769128" y="4515148"/>
            <a:ext cx="5761092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Производственные стандарты не подходят для ПО, нужны стандарты жизненного цикла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233360" y="5338465"/>
            <a:ext cx="382677" cy="382687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7" name="Text 14"/>
          <p:cNvSpPr/>
          <p:nvPr/>
        </p:nvSpPr>
        <p:spPr>
          <a:xfrm>
            <a:off x="5297107" y="5370314"/>
            <a:ext cx="255085" cy="31888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5769128" y="5396905"/>
            <a:ext cx="5761092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Результат</a:t>
            </a:r>
            <a:endParaRPr lang="en-US" sz="1650" dirty="0"/>
          </a:p>
        </p:txBody>
      </p:sp>
      <p:sp>
        <p:nvSpPr>
          <p:cNvPr id="19" name="Text 16"/>
          <p:cNvSpPr/>
          <p:nvPr/>
        </p:nvSpPr>
        <p:spPr>
          <a:xfrm>
            <a:off x="5769128" y="5754390"/>
            <a:ext cx="5761092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Начало разработки фундаментальных документов для процессов создания кода</a:t>
            </a:r>
            <a:endParaRPr lang="en-US" sz="1300" dirty="0"/>
          </a:p>
        </p:txBody>
      </p:sp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B286F082-F5B7-491F-BCA1-C637A54DF5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45406" y="6446484"/>
            <a:ext cx="1554615" cy="411516"/>
          </a:xfrm>
          <a:prstGeom prst="rect">
            <a:avLst/>
          </a:prstGeom>
        </p:spPr>
      </p:pic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8A12FE81-E4C9-4EE0-615C-7203FE2156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37385" y="6446484"/>
            <a:ext cx="1554615" cy="41151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465759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Экосистема стандартов ПО: карта территории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2434431"/>
            <a:ext cx="3496877" cy="1989237"/>
          </a:xfrm>
          <a:prstGeom prst="roundRect">
            <a:avLst>
              <a:gd name="adj" fmla="val 1425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850482" y="2623443"/>
            <a:ext cx="31188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ISO/IEC/IEEE 12207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850482" y="3032125"/>
            <a:ext cx="3118863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Процессы жизненного цикла (КАК и ЧТО делать)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4347359" y="2434431"/>
            <a:ext cx="3496877" cy="1989237"/>
          </a:xfrm>
          <a:prstGeom prst="roundRect">
            <a:avLst>
              <a:gd name="adj" fmla="val 1425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7" name="Text 5"/>
          <p:cNvSpPr/>
          <p:nvPr/>
        </p:nvSpPr>
        <p:spPr>
          <a:xfrm>
            <a:off x="4536366" y="2623443"/>
            <a:ext cx="31188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ISO/IEC 15288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4536366" y="3032125"/>
            <a:ext cx="3118863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Процессы жизненного цикла систем (более широкий контекст)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8033244" y="2434431"/>
            <a:ext cx="3496877" cy="1989237"/>
          </a:xfrm>
          <a:prstGeom prst="roundRect">
            <a:avLst>
              <a:gd name="adj" fmla="val 1425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0" name="Text 8"/>
          <p:cNvSpPr/>
          <p:nvPr/>
        </p:nvSpPr>
        <p:spPr>
          <a:xfrm>
            <a:off x="8222251" y="2623443"/>
            <a:ext cx="3118863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Серия ISO/IEC 25000 (SQuaRE)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8222251" y="3327400"/>
            <a:ext cx="311886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Качество и оценка программного продукта (КАК измерять результат)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61475" y="4636294"/>
            <a:ext cx="10868745" cy="755948"/>
          </a:xfrm>
          <a:prstGeom prst="roundRect">
            <a:avLst>
              <a:gd name="adj" fmla="val 3751"/>
            </a:avLst>
          </a:prstGeom>
          <a:solidFill>
            <a:srgbClr val="CCD7FF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482" y="4903986"/>
            <a:ext cx="236234" cy="189012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275723" y="4872534"/>
            <a:ext cx="1067507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Связка:</a:t>
            </a:r>
            <a:r>
              <a:rPr lang="en-US" sz="14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Процессы (12207) + Измерение качества (25023) = Предсказуемый результат</a:t>
            </a:r>
            <a:endParaRPr lang="en-US" sz="1450" dirty="0"/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DDAC0693-C8A9-9F08-4BA1-142E4B86C8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37385" y="6454505"/>
            <a:ext cx="1554615" cy="41151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71711"/>
            <a:ext cx="10868745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ISO/IEC/IEEE 12207: фундамент и архитектура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539042" y="1432917"/>
            <a:ext cx="5471777" cy="4753372"/>
          </a:xfrm>
          <a:prstGeom prst="roundRect">
            <a:avLst>
              <a:gd name="adj" fmla="val 537"/>
            </a:avLst>
          </a:prstGeom>
          <a:solidFill>
            <a:srgbClr val="2150FE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709099" y="1586012"/>
            <a:ext cx="5131664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Суть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709099" y="2004814"/>
            <a:ext cx="5741249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Таксономия всех процессов жизненного цикла ПО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09099" y="2416473"/>
            <a:ext cx="5131664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Принцип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709099" y="2835275"/>
            <a:ext cx="5131664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Описывает ЧТО нужно сделать, но не диктует КАК (не навязывает методологии)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09099" y="3505498"/>
            <a:ext cx="5131664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Статус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709099" y="3924300"/>
            <a:ext cx="5741249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Глобальный фундамент для контрактов и аудита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309659" y="1586012"/>
            <a:ext cx="5226911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Три уровня процессов</a:t>
            </a:r>
            <a:endParaRPr lang="en-US" sz="165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09659" y="2023963"/>
            <a:ext cx="5226911" cy="131415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574963" y="2213074"/>
            <a:ext cx="4772501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Организационные (OP)</a:t>
            </a:r>
            <a:endParaRPr lang="en-US" sz="1650" dirty="0"/>
          </a:p>
        </p:txBody>
      </p:sp>
      <p:sp>
        <p:nvSpPr>
          <p:cNvPr id="13" name="Text 10"/>
          <p:cNvSpPr/>
          <p:nvPr/>
        </p:nvSpPr>
        <p:spPr>
          <a:xfrm>
            <a:off x="6574963" y="2631877"/>
            <a:ext cx="4772501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Инфраструктура, кадры, улучшение процессов (уровень компании)</a:t>
            </a:r>
            <a:endParaRPr lang="en-US" sz="13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09659" y="3491210"/>
            <a:ext cx="5226911" cy="105558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574963" y="3680321"/>
            <a:ext cx="4772501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Проектные (PP)</a:t>
            </a:r>
            <a:endParaRPr lang="en-US" sz="1650" dirty="0"/>
          </a:p>
        </p:txBody>
      </p:sp>
      <p:sp>
        <p:nvSpPr>
          <p:cNvPr id="16" name="Text 12"/>
          <p:cNvSpPr/>
          <p:nvPr/>
        </p:nvSpPr>
        <p:spPr>
          <a:xfrm>
            <a:off x="6574963" y="4099123"/>
            <a:ext cx="4772501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Планирование, риски, поставщики (уровень проекта)</a:t>
            </a:r>
            <a:endParaRPr lang="en-US" sz="1300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09659" y="4699893"/>
            <a:ext cx="5226911" cy="131415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574963" y="4889004"/>
            <a:ext cx="4772501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Технические (TP)</a:t>
            </a:r>
            <a:endParaRPr lang="en-US" sz="1650" dirty="0"/>
          </a:p>
        </p:txBody>
      </p:sp>
      <p:sp>
        <p:nvSpPr>
          <p:cNvPr id="19" name="Text 14"/>
          <p:cNvSpPr/>
          <p:nvPr/>
        </p:nvSpPr>
        <p:spPr>
          <a:xfrm>
            <a:off x="6574963" y="5307806"/>
            <a:ext cx="4772501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Требования, архитектура, код, тестирование (уровень продукта)</a:t>
            </a:r>
            <a:endParaRPr lang="en-US" sz="1300" dirty="0"/>
          </a:p>
        </p:txBody>
      </p:sp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938C218B-0ED7-075B-B255-612242AF63C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37385" y="6446484"/>
            <a:ext cx="1554615" cy="41151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627063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ISO/IEC 25023: измерение качества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2091829"/>
            <a:ext cx="6296860" cy="16349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Контекст:</a:t>
            </a: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Часть семейства стандартов ISO/IEC 25000 (SQuaRE)</a:t>
            </a:r>
            <a:endParaRPr lang="en-US" sz="1450" dirty="0"/>
          </a:p>
          <a:p>
            <a:pPr marL="0" indent="0" algn="l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Принцип:</a:t>
            </a: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«Нельзя управлять тем, что нельзя измерить»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Функция:</a:t>
            </a: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Определяет конкретные метрики для оценки характеристик качества:</a:t>
            </a:r>
            <a:endParaRPr lang="en-US" sz="14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3939381"/>
            <a:ext cx="472468" cy="47248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370177" y="3939381"/>
            <a:ext cx="5588158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Надёжность, безопасность, производительность</a:t>
            </a:r>
            <a:endParaRPr lang="en-US" sz="18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4907955"/>
            <a:ext cx="472468" cy="47248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370177" y="4907955"/>
            <a:ext cx="558815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Сопровождаемость, удобство использования</a:t>
            </a:r>
            <a:endParaRPr lang="en-US" sz="185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5758458"/>
            <a:ext cx="472468" cy="47248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1370177" y="5758458"/>
            <a:ext cx="558815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Переносимость, функциональная полнота</a:t>
            </a:r>
            <a:endParaRPr lang="en-US" sz="1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23537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Синергия стандартов: 12207 и 25023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204045"/>
            <a:ext cx="3622882" cy="75604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50482" y="3149104"/>
            <a:ext cx="3244868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ISO 12207 (Технические процессы)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850482" y="3853061"/>
            <a:ext cx="3244868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Задает требование «Провести тестирование на надежность»</a:t>
            </a:r>
            <a:endParaRPr lang="en-US" sz="1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4357" y="2204045"/>
            <a:ext cx="3622882" cy="75604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473364" y="3149104"/>
            <a:ext cx="324486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ISO 25023 (Метрики)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4473364" y="3557786"/>
            <a:ext cx="3244868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Дает формулу «Среднее время наработки на отказ (MTBF)» и методику сбора</a:t>
            </a:r>
            <a:endParaRPr lang="en-US" sz="14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07239" y="2204045"/>
            <a:ext cx="3622882" cy="75604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096246" y="3149104"/>
            <a:ext cx="324486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Результат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8096246" y="3557786"/>
            <a:ext cx="3244868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Объективная оценка качества на всех этапах (от прототипа до релиза)</a:t>
            </a:r>
            <a:endParaRPr lang="en-US" sz="1450" dirty="0"/>
          </a:p>
        </p:txBody>
      </p:sp>
      <p:sp>
        <p:nvSpPr>
          <p:cNvPr id="12" name="Shape 7"/>
          <p:cNvSpPr/>
          <p:nvPr/>
        </p:nvSpPr>
        <p:spPr>
          <a:xfrm>
            <a:off x="661475" y="4866680"/>
            <a:ext cx="10868745" cy="755948"/>
          </a:xfrm>
          <a:prstGeom prst="roundRect">
            <a:avLst>
              <a:gd name="adj" fmla="val 3751"/>
            </a:avLst>
          </a:prstGeom>
          <a:solidFill>
            <a:srgbClr val="B6FCB8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482" y="5134372"/>
            <a:ext cx="236234" cy="18901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275723" y="5102920"/>
            <a:ext cx="1067507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Итог:</a:t>
            </a:r>
            <a:r>
              <a:rPr lang="en-US" sz="14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Переход от интуитивных оценок к доказательной инженерии</a:t>
            </a:r>
            <a:endParaRPr lang="en-US" sz="1450" dirty="0"/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B696B720-495B-4C43-0E69-8D57814B3E8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37385" y="6446484"/>
            <a:ext cx="1554615" cy="41151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729258"/>
            <a:ext cx="6296860" cy="4005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Бизнес-ценность внедрения стандартов</a:t>
            </a:r>
            <a:endParaRPr lang="en-US" sz="2500" dirty="0"/>
          </a:p>
        </p:txBody>
      </p:sp>
      <p:sp>
        <p:nvSpPr>
          <p:cNvPr id="4" name="Shape 1"/>
          <p:cNvSpPr/>
          <p:nvPr/>
        </p:nvSpPr>
        <p:spPr>
          <a:xfrm>
            <a:off x="5233360" y="1260177"/>
            <a:ext cx="6296860" cy="1151930"/>
          </a:xfrm>
          <a:prstGeom prst="roundRect">
            <a:avLst>
              <a:gd name="adj" fmla="val 1669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5" name="Shape 2"/>
          <p:cNvSpPr/>
          <p:nvPr/>
        </p:nvSpPr>
        <p:spPr>
          <a:xfrm>
            <a:off x="5361449" y="1388269"/>
            <a:ext cx="384463" cy="384473"/>
          </a:xfrm>
          <a:prstGeom prst="ellipse">
            <a:avLst/>
          </a:prstGeom>
          <a:solidFill>
            <a:srgbClr val="2150FE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67114" y="1493937"/>
            <a:ext cx="173033" cy="17303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361449" y="1859657"/>
            <a:ext cx="6040683" cy="200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Предсказуемость</a:t>
            </a:r>
            <a:endParaRPr lang="en-US" sz="1250" dirty="0"/>
          </a:p>
        </p:txBody>
      </p:sp>
      <p:sp>
        <p:nvSpPr>
          <p:cNvPr id="8" name="Text 4"/>
          <p:cNvSpPr/>
          <p:nvPr/>
        </p:nvSpPr>
        <p:spPr>
          <a:xfrm>
            <a:off x="5361449" y="2111970"/>
            <a:ext cx="6040683" cy="172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Снижение рисков срыва сроков и бюджетов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5233360" y="2499023"/>
            <a:ext cx="6296860" cy="1151930"/>
          </a:xfrm>
          <a:prstGeom prst="roundRect">
            <a:avLst>
              <a:gd name="adj" fmla="val 1669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0" name="Shape 6"/>
          <p:cNvSpPr/>
          <p:nvPr/>
        </p:nvSpPr>
        <p:spPr>
          <a:xfrm>
            <a:off x="5361449" y="2627114"/>
            <a:ext cx="384463" cy="384473"/>
          </a:xfrm>
          <a:prstGeom prst="ellipse">
            <a:avLst/>
          </a:prstGeom>
          <a:solidFill>
            <a:srgbClr val="2150FE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67114" y="2732782"/>
            <a:ext cx="173033" cy="17303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361449" y="3098502"/>
            <a:ext cx="6040683" cy="200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Глобальные контракты</a:t>
            </a:r>
            <a:endParaRPr lang="en-US" sz="1250" dirty="0"/>
          </a:p>
        </p:txBody>
      </p:sp>
      <p:sp>
        <p:nvSpPr>
          <p:cNvPr id="13" name="Text 8"/>
          <p:cNvSpPr/>
          <p:nvPr/>
        </p:nvSpPr>
        <p:spPr>
          <a:xfrm>
            <a:off x="5361449" y="3350816"/>
            <a:ext cx="6040683" cy="172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Соответствие требованиям международных заказчиков и гос. тендеров</a:t>
            </a:r>
            <a:endParaRPr lang="en-US" sz="1000" dirty="0"/>
          </a:p>
        </p:txBody>
      </p:sp>
      <p:sp>
        <p:nvSpPr>
          <p:cNvPr id="14" name="Shape 9"/>
          <p:cNvSpPr/>
          <p:nvPr/>
        </p:nvSpPr>
        <p:spPr>
          <a:xfrm>
            <a:off x="5233360" y="3737868"/>
            <a:ext cx="6296860" cy="1151930"/>
          </a:xfrm>
          <a:prstGeom prst="roundRect">
            <a:avLst>
              <a:gd name="adj" fmla="val 1669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5" name="Shape 10"/>
          <p:cNvSpPr/>
          <p:nvPr/>
        </p:nvSpPr>
        <p:spPr>
          <a:xfrm>
            <a:off x="5361449" y="3865959"/>
            <a:ext cx="384463" cy="384473"/>
          </a:xfrm>
          <a:prstGeom prst="ellipse">
            <a:avLst/>
          </a:prstGeom>
          <a:solidFill>
            <a:srgbClr val="2150FE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467114" y="3971627"/>
            <a:ext cx="173033" cy="17303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361449" y="4337348"/>
            <a:ext cx="6040683" cy="200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Снижение стоимости владения (TCO)</a:t>
            </a:r>
            <a:endParaRPr lang="en-US" sz="1250" dirty="0"/>
          </a:p>
        </p:txBody>
      </p:sp>
      <p:sp>
        <p:nvSpPr>
          <p:cNvPr id="18" name="Text 12"/>
          <p:cNvSpPr/>
          <p:nvPr/>
        </p:nvSpPr>
        <p:spPr>
          <a:xfrm>
            <a:off x="5361449" y="4589661"/>
            <a:ext cx="6040683" cy="172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Качественный код дешевле поддерживать и масштабировать</a:t>
            </a:r>
            <a:endParaRPr lang="en-US" sz="1000" dirty="0"/>
          </a:p>
        </p:txBody>
      </p:sp>
      <p:sp>
        <p:nvSpPr>
          <p:cNvPr id="19" name="Shape 13"/>
          <p:cNvSpPr/>
          <p:nvPr/>
        </p:nvSpPr>
        <p:spPr>
          <a:xfrm>
            <a:off x="5233360" y="4976713"/>
            <a:ext cx="6296860" cy="1151930"/>
          </a:xfrm>
          <a:prstGeom prst="roundRect">
            <a:avLst>
              <a:gd name="adj" fmla="val 1669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0" name="Shape 14"/>
          <p:cNvSpPr/>
          <p:nvPr/>
        </p:nvSpPr>
        <p:spPr>
          <a:xfrm>
            <a:off x="5361449" y="5104805"/>
            <a:ext cx="384463" cy="384473"/>
          </a:xfrm>
          <a:prstGeom prst="ellipse">
            <a:avLst/>
          </a:prstGeom>
          <a:solidFill>
            <a:srgbClr val="2150FE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467114" y="5210473"/>
            <a:ext cx="173033" cy="17303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5361449" y="5576193"/>
            <a:ext cx="6040683" cy="200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Независимость от «звезд»</a:t>
            </a:r>
            <a:endParaRPr lang="en-US" sz="1250" dirty="0"/>
          </a:p>
        </p:txBody>
      </p:sp>
      <p:sp>
        <p:nvSpPr>
          <p:cNvPr id="23" name="Text 16"/>
          <p:cNvSpPr/>
          <p:nvPr/>
        </p:nvSpPr>
        <p:spPr>
          <a:xfrm>
            <a:off x="5361449" y="5828506"/>
            <a:ext cx="6040683" cy="172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Процессы и знания остаются в компании при смене кадров</a:t>
            </a:r>
            <a:endParaRPr lang="en-US" sz="1000" dirty="0"/>
          </a:p>
        </p:txBody>
      </p:sp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95889AFB-F8C9-BAB1-8CCF-B0206824F25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37385" y="6446484"/>
            <a:ext cx="1554615" cy="41151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40780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Эволюция и современный контекст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809452"/>
            <a:ext cx="5339820" cy="2009378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89605" y="1976537"/>
            <a:ext cx="283461" cy="28346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75881" y="2590899"/>
            <a:ext cx="491100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Гармонизация с IEEE</a:t>
            </a:r>
            <a:endParaRPr lang="en-US" sz="1850" dirty="0"/>
          </a:p>
        </p:txBody>
      </p:sp>
      <p:sp>
        <p:nvSpPr>
          <p:cNvPr id="6" name="Text 2"/>
          <p:cNvSpPr/>
          <p:nvPr/>
        </p:nvSpPr>
        <p:spPr>
          <a:xfrm>
            <a:off x="875881" y="2999581"/>
            <a:ext cx="4911007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Объединение стандартов (ISO/IEC/IEEE 12207:2023)</a:t>
            </a:r>
            <a:endParaRPr lang="en-US" sz="14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90301" y="1809452"/>
            <a:ext cx="5339919" cy="2009378"/>
          </a:xfrm>
          <a:prstGeom prst="rect">
            <a:avLst/>
          </a:prstGeom>
        </p:spPr>
      </p:pic>
      <p:pic>
        <p:nvPicPr>
          <p:cNvPr id="8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18530" y="1976537"/>
            <a:ext cx="283461" cy="283468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6404708" y="2590899"/>
            <a:ext cx="49111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Гибкость</a:t>
            </a:r>
            <a:endParaRPr lang="en-US" sz="1850" dirty="0"/>
          </a:p>
        </p:txBody>
      </p:sp>
      <p:sp>
        <p:nvSpPr>
          <p:cNvPr id="10" name="Text 4"/>
          <p:cNvSpPr/>
          <p:nvPr/>
        </p:nvSpPr>
        <p:spPr>
          <a:xfrm>
            <a:off x="6404708" y="2999581"/>
            <a:ext cx="491110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Стандарты адаптируются под Agile, DevOps и Continuous Integration</a:t>
            </a:r>
            <a:endParaRPr lang="en-US" sz="145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4007842"/>
            <a:ext cx="5339820" cy="2009378"/>
          </a:xfrm>
          <a:prstGeom prst="rect">
            <a:avLst/>
          </a:prstGeom>
        </p:spPr>
      </p:pic>
      <p:pic>
        <p:nvPicPr>
          <p:cNvPr id="12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189605" y="4174927"/>
            <a:ext cx="283461" cy="283468"/>
          </a:xfrm>
          <a:prstGeom prst="rect">
            <a:avLst/>
          </a:prstGeom>
        </p:spPr>
      </p:pic>
      <p:sp>
        <p:nvSpPr>
          <p:cNvPr id="13" name="Text 5"/>
          <p:cNvSpPr/>
          <p:nvPr/>
        </p:nvSpPr>
        <p:spPr>
          <a:xfrm>
            <a:off x="875881" y="4789289"/>
            <a:ext cx="491100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Автоматизация метрик</a:t>
            </a:r>
            <a:endParaRPr lang="en-US" sz="1850" dirty="0"/>
          </a:p>
        </p:txBody>
      </p:sp>
      <p:sp>
        <p:nvSpPr>
          <p:cNvPr id="14" name="Text 6"/>
          <p:cNvSpPr/>
          <p:nvPr/>
        </p:nvSpPr>
        <p:spPr>
          <a:xfrm>
            <a:off x="875881" y="5197971"/>
            <a:ext cx="491100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CI/CD пайплайны автоматически собирают метрики по ISO 25023</a:t>
            </a:r>
            <a:endParaRPr lang="en-US" sz="1450" dirty="0"/>
          </a:p>
        </p:txBody>
      </p:sp>
      <p:pic>
        <p:nvPicPr>
          <p:cNvPr id="15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90301" y="4007842"/>
            <a:ext cx="5339919" cy="2009378"/>
          </a:xfrm>
          <a:prstGeom prst="rect">
            <a:avLst/>
          </a:prstGeom>
        </p:spPr>
      </p:pic>
      <p:pic>
        <p:nvPicPr>
          <p:cNvPr id="16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718530" y="4174927"/>
            <a:ext cx="283461" cy="283468"/>
          </a:xfrm>
          <a:prstGeom prst="rect">
            <a:avLst/>
          </a:prstGeom>
        </p:spPr>
      </p:pic>
      <p:sp>
        <p:nvSpPr>
          <p:cNvPr id="17" name="Text 7"/>
          <p:cNvSpPr/>
          <p:nvPr/>
        </p:nvSpPr>
        <p:spPr>
          <a:xfrm>
            <a:off x="6404708" y="4789289"/>
            <a:ext cx="49111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Будущее</a:t>
            </a:r>
            <a:endParaRPr lang="en-US" sz="1850" dirty="0"/>
          </a:p>
        </p:txBody>
      </p:sp>
      <p:sp>
        <p:nvSpPr>
          <p:cNvPr id="18" name="Text 8"/>
          <p:cNvSpPr/>
          <p:nvPr/>
        </p:nvSpPr>
        <p:spPr>
          <a:xfrm>
            <a:off x="6404708" y="5197971"/>
            <a:ext cx="491110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Интеграция стандартов для систем с ИИ и повышенной кибербезопасности</a:t>
            </a:r>
            <a:endParaRPr lang="en-US" sz="1450" dirty="0"/>
          </a:p>
        </p:txBody>
      </p:sp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03562E6F-5689-E71C-EBB9-ED15F082AC7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37385" y="6446484"/>
            <a:ext cx="1554615" cy="41151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615156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Заключение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1489273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Путь от стандартизации физических величин до стандартизации цифровых процессов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661475" y="2306737"/>
            <a:ext cx="6296860" cy="2178248"/>
          </a:xfrm>
          <a:prstGeom prst="roundRect">
            <a:avLst>
              <a:gd name="adj" fmla="val 1302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6" name="Shape 3"/>
          <p:cNvSpPr/>
          <p:nvPr/>
        </p:nvSpPr>
        <p:spPr>
          <a:xfrm>
            <a:off x="661475" y="2306737"/>
            <a:ext cx="6296860" cy="1089124"/>
          </a:xfrm>
          <a:custGeom>
            <a:avLst/>
            <a:gdLst/>
            <a:ahLst/>
            <a:cxnLst/>
            <a:rect l="l" t="t" r="r" b="b"/>
            <a:pathLst>
              <a:path w="6296860" h="1089124">
                <a:moveTo>
                  <a:pt x="23627" y="0"/>
                </a:moveTo>
                <a:lnTo>
                  <a:pt x="6273232" y="0"/>
                </a:lnTo>
                <a:arcTo wR="23627" hR="23628" stAng="16200000" swAng="5400000"/>
                <a:lnTo>
                  <a:pt x="6296860" y="1089124"/>
                </a:lnTo>
                <a:lnTo>
                  <a:pt x="0" y="1089124"/>
                </a:lnTo>
                <a:lnTo>
                  <a:pt x="0" y="23628"/>
                </a:lnTo>
                <a:arcTo wR="23627" hR="23628" stAng="10800000" swAng="5400000"/>
                <a:close/>
              </a:path>
            </a:pathLst>
          </a:custGeom>
          <a:solidFill>
            <a:srgbClr val="F2EEEE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7" name="Text 4"/>
          <p:cNvSpPr/>
          <p:nvPr/>
        </p:nvSpPr>
        <p:spPr>
          <a:xfrm>
            <a:off x="850482" y="2495748"/>
            <a:ext cx="59188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ISO 12207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850482" y="2904430"/>
            <a:ext cx="591884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Скелет и нервная система вашей разработки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661475" y="3395861"/>
            <a:ext cx="6296860" cy="1089124"/>
          </a:xfrm>
          <a:custGeom>
            <a:avLst/>
            <a:gdLst/>
            <a:ahLst/>
            <a:cxnLst/>
            <a:rect l="l" t="t" r="r" b="b"/>
            <a:pathLst>
              <a:path w="6296860" h="1089124">
                <a:moveTo>
                  <a:pt x="0" y="0"/>
                </a:moveTo>
                <a:lnTo>
                  <a:pt x="6296860" y="0"/>
                </a:lnTo>
                <a:lnTo>
                  <a:pt x="6296860" y="1065496"/>
                </a:lnTo>
                <a:arcTo wR="23627" hR="23628" stAng="0" swAng="5400000"/>
                <a:lnTo>
                  <a:pt x="23627" y="1089124"/>
                </a:lnTo>
                <a:arcTo wR="23627" hR="23628" stAng="5400000" swAng="5400000"/>
                <a:lnTo>
                  <a:pt x="0" y="0"/>
                </a:lnTo>
                <a:close/>
              </a:path>
            </a:pathLst>
          </a:custGeom>
          <a:solidFill>
            <a:srgbClr val="F2EEEE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0" name="Shape 7"/>
          <p:cNvSpPr/>
          <p:nvPr/>
        </p:nvSpPr>
        <p:spPr>
          <a:xfrm>
            <a:off x="661475" y="3395861"/>
            <a:ext cx="6296860" cy="25400"/>
          </a:xfrm>
          <a:prstGeom prst="roundRect">
            <a:avLst>
              <a:gd name="adj" fmla="val 49999"/>
            </a:avLst>
          </a:prstGeom>
          <a:solidFill>
            <a:srgbClr val="D8D4D4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1" name="Text 8"/>
          <p:cNvSpPr/>
          <p:nvPr/>
        </p:nvSpPr>
        <p:spPr>
          <a:xfrm>
            <a:off x="850482" y="3584873"/>
            <a:ext cx="59188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ISO 25023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850482" y="3993555"/>
            <a:ext cx="591884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Зрение, позволяющее оценивать здоровье продукта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661475" y="4697611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Стандарты — не ограничение свободы, а фундамент для создания сложных и надежных систем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944936" y="5727700"/>
            <a:ext cx="662298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Спасибо за внимание!</a:t>
            </a:r>
            <a:endParaRPr lang="en-US" sz="1450" dirty="0"/>
          </a:p>
        </p:txBody>
      </p:sp>
      <p:sp>
        <p:nvSpPr>
          <p:cNvPr id="15" name="Shape 12"/>
          <p:cNvSpPr/>
          <p:nvPr/>
        </p:nvSpPr>
        <p:spPr>
          <a:xfrm>
            <a:off x="661475" y="5515074"/>
            <a:ext cx="25399" cy="727670"/>
          </a:xfrm>
          <a:prstGeom prst="roundRect">
            <a:avLst>
              <a:gd name="adj" fmla="val 50001"/>
            </a:avLst>
          </a:prstGeom>
          <a:solidFill>
            <a:srgbClr val="2150FE"/>
          </a:solidFill>
          <a:ln/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6F7211-102D-95B9-C102-AC1A232929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5409797B-6151-23D5-DB7A-E98D4450E4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A9FB4E80-D94F-C44E-BFA1-8991F932B9CC}"/>
              </a:ext>
            </a:extLst>
          </p:cNvPr>
          <p:cNvSpPr/>
          <p:nvPr/>
        </p:nvSpPr>
        <p:spPr>
          <a:xfrm>
            <a:off x="661475" y="1841302"/>
            <a:ext cx="6296860" cy="1771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Международная система стандартов ISO в программной инженерии</a:t>
            </a:r>
            <a:endParaRPr lang="en-US" sz="370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93475F0E-564E-11E4-E05B-EB3A387C21A7}"/>
              </a:ext>
            </a:extLst>
          </p:cNvPr>
          <p:cNvSpPr/>
          <p:nvPr/>
        </p:nvSpPr>
        <p:spPr>
          <a:xfrm>
            <a:off x="661475" y="3896717"/>
            <a:ext cx="5755367" cy="651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Эволюция: от первых физических стандартов до ISO/IEC 12207 и ISO/IEC 25023</a:t>
            </a:r>
            <a:endParaRPr lang="en-US" sz="1450" dirty="0"/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C6E7574E-36EF-0A88-99D1-053BDCEC8BEC}"/>
              </a:ext>
            </a:extLst>
          </p:cNvPr>
          <p:cNvSpPr/>
          <p:nvPr/>
        </p:nvSpPr>
        <p:spPr>
          <a:xfrm>
            <a:off x="661475" y="4871510"/>
            <a:ext cx="2089746" cy="12432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3000"/>
              </a:lnSpc>
            </a:pPr>
            <a:r>
              <a:rPr lang="ru-RU" sz="16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Выполнили:</a:t>
            </a:r>
          </a:p>
          <a:p>
            <a:pPr>
              <a:lnSpc>
                <a:spcPct val="133000"/>
              </a:lnSpc>
            </a:pPr>
            <a:r>
              <a:rPr lang="ru-RU" sz="16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Шишковец Андрей</a:t>
            </a:r>
            <a:br>
              <a:rPr lang="ru-RU" sz="16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</a:br>
            <a:r>
              <a:rPr lang="ru-RU" sz="16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Турусинов Роман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42087667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605</Words>
  <Application>Microsoft Office PowerPoint</Application>
  <PresentationFormat>Широкоэкранный</PresentationFormat>
  <Paragraphs>111</Paragraphs>
  <Slides>11</Slides>
  <Notes>11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6" baseType="lpstr">
      <vt:lpstr>Heebo</vt:lpstr>
      <vt:lpstr>Crimson Pro SemiBold</vt:lpstr>
      <vt:lpstr>Arial</vt:lpstr>
      <vt:lpstr>Heebo Bold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Андрей Шишковец</cp:lastModifiedBy>
  <cp:revision>5</cp:revision>
  <dcterms:created xsi:type="dcterms:W3CDTF">2026-09-23T12:04:56Z</dcterms:created>
  <dcterms:modified xsi:type="dcterms:W3CDTF">2026-10-09T06:37:12Z</dcterms:modified>
</cp:coreProperties>
</file>