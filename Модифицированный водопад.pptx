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embeddedFontLst>
    <p:embeddedFont>
      <p:font typeface="Montserrat Medium" panose="00000600000000000000" pitchFamily="2" charset="-52"/>
      <p:regular r:id="rId17"/>
    </p:embeddedFont>
    <p:embeddedFont>
      <p:font typeface="Montserrat SemiBold" panose="00000700000000000000" pitchFamily="2" charset="-52"/>
      <p:bold r:id="rId18"/>
    </p:embeddedFont>
    <p:embeddedFont>
      <p:font typeface="Noto Sans" panose="020B0502040504020204" pitchFamily="34" charset="0"/>
      <p:regular r:id="rId19"/>
      <p:bold r:id="rId20"/>
    </p:embeddedFont>
    <p:embeddedFont>
      <p:font typeface="Noto Sans Light" panose="020B0604020202020204" charset="0"/>
      <p:regular r:id="rId21"/>
    </p:embeddedFont>
    <p:embeddedFont>
      <p:font typeface="Noto Sans Medium" panose="020B0604020202020204" charset="0"/>
      <p:regular r:id="rId22"/>
    </p:embeddedFont>
    <p:embeddedFont>
      <p:font typeface="Noto Sans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56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Рассмотрим каскадную модель с возвратами к предыдущим этапам. Основное внимание уделим логике переходов, нормативным документам и результатам первых четырёх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упрощённое представление строгого каскада. Последовательность удобна для планирования, но позднее обнаружение неверного требования затрагивает проектирование, код и испытания.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Обратная связь не отменяет каскадную структуру. Она позволяет уточнять результаты соседних стадий. Проверка отвечает на вопрос о соответствии заданным требованиям, а валидация уточняет, решает ли результат нужную задачу.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E812-F736-6066-4954-8E7FE157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6499A-615C-3F67-B0EA-B9F3ED650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C2306-9F3C-AC99-7888-49C2A4F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A4CE3-F0A8-9890-A561-5FC9D9095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5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45F1-680B-D045-D67C-6FC4BC586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A3A21-E16F-CEBB-85F3-069BD8DBA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C06EF-84E7-44AA-B50B-3FFEA9A0C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D6C15-21F7-19DE-812E-CC9D772B1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56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D94A-DA0C-37F7-178F-4996CEA6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DA13B-EE49-F067-B59A-3ACE9F833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6CE47-7E61-B693-19CB-B7B0848C8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B371B-D748-2BC5-8B9E-EDB0655B2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98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D1C8-850C-23C1-CAC6-ED0254EE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47206-3BA2-6561-12C3-B277DD730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5EA76-6A18-EA10-F9A8-1AA080B4B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Рассмотрим каскадную модель с возвратами к предыдущим этапам. Основное внимание уделим логике переходов, нормативным документам и результатам первых четырёх этапов.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4DAED-6BF5-0269-C017-56F1CAE01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61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81" y="939800"/>
            <a:ext cx="1015339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ЖИЗНЕННЫЙ ЦИКЛ ПРОГРАММНОГО ОБЕСПЕЧЕНИЯ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5955" y="1208385"/>
            <a:ext cx="9543811" cy="193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Модифицированный водопад: модель жизненного цикла ПО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5955" y="3486348"/>
            <a:ext cx="5624950" cy="45719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815955" y="4007148"/>
            <a:ext cx="954381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Последовательные этапы, обратные связи и документированные результаты</a:t>
            </a:r>
            <a:endParaRPr lang="en-US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22CC90E-A8D5-6FC5-0D48-0A7F22E93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2960"/>
            <a:ext cx="12191999" cy="955041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A4634569-4275-4242-3C59-4C1891A71B62}"/>
              </a:ext>
            </a:extLst>
          </p:cNvPr>
          <p:cNvSpPr/>
          <p:nvPr/>
        </p:nvSpPr>
        <p:spPr>
          <a:xfrm>
            <a:off x="815955" y="5178583"/>
            <a:ext cx="3098318" cy="11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Выполнили:</a:t>
            </a:r>
            <a:b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</a:br>
            <a: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Шишковец Андрей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</a:rPr>
              <a:t>Турусинов Роман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51821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ОГРАНИЧЕНИЕ КЛАССИЧЕСКОЙ МОДЕЛИ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690862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Классический водопад не прощает ошибок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690852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Shape 3"/>
          <p:cNvSpPr/>
          <p:nvPr/>
        </p:nvSpPr>
        <p:spPr>
          <a:xfrm>
            <a:off x="609585" y="2482552"/>
            <a:ext cx="247049" cy="21590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609585" y="2482552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785368"/>
            <a:ext cx="2099615" cy="19050"/>
          </a:xfrm>
          <a:prstGeom prst="rect">
            <a:avLst/>
          </a:prstGeom>
          <a:solidFill>
            <a:srgbClr val="0A8199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609585" y="2934494"/>
            <a:ext cx="20996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Требования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15010"/>
            <a:ext cx="209961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Фиксируем задачу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013992" y="2482552"/>
            <a:ext cx="247049" cy="21590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1" name="Text 9"/>
          <p:cNvSpPr/>
          <p:nvPr/>
        </p:nvSpPr>
        <p:spPr>
          <a:xfrm>
            <a:off x="3013992" y="2482552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13992" y="2785368"/>
            <a:ext cx="2099714" cy="19050"/>
          </a:xfrm>
          <a:prstGeom prst="rect">
            <a:avLst/>
          </a:prstGeom>
          <a:solidFill>
            <a:srgbClr val="0A8199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3013992" y="2934494"/>
            <a:ext cx="20997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Разработка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013992" y="3415010"/>
            <a:ext cx="209971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Создаём решение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18498" y="2482552"/>
            <a:ext cx="247049" cy="21590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6" name="Text 14"/>
          <p:cNvSpPr/>
          <p:nvPr/>
        </p:nvSpPr>
        <p:spPr>
          <a:xfrm>
            <a:off x="5418498" y="2482552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18498" y="2785368"/>
            <a:ext cx="2099714" cy="19050"/>
          </a:xfrm>
          <a:prstGeom prst="rect">
            <a:avLst/>
          </a:prstGeom>
          <a:solidFill>
            <a:srgbClr val="0A8199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8" name="Text 16"/>
          <p:cNvSpPr/>
          <p:nvPr/>
        </p:nvSpPr>
        <p:spPr>
          <a:xfrm>
            <a:off x="5418498" y="2934494"/>
            <a:ext cx="20997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Проверка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18498" y="3415010"/>
            <a:ext cx="209971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Выявляем ошибки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9585" y="4327128"/>
            <a:ext cx="6908627" cy="192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Этапы строго последовательны; возврат назад не предусмотрен.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Ошибки требований вскрываются поздно, когда решение уже построено.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Исправление требует дорогой переработки последующих результатов.</a:t>
            </a:r>
            <a:endParaRPr lang="en-US" sz="17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3150D00-5041-6798-6963-B0DEFFEFE6C1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24444F"/>
                </a:solidFill>
                <a:effectLst/>
                <a:uLnTx/>
                <a:uFillTx/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МОДЕЛЬ РОЙСА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Модификация добавляет обратные связи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Shape 3"/>
          <p:cNvSpPr/>
          <p:nvPr/>
        </p:nvSpPr>
        <p:spPr>
          <a:xfrm>
            <a:off x="609585" y="2430959"/>
            <a:ext cx="3454314" cy="2875459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Shape 4"/>
          <p:cNvSpPr/>
          <p:nvPr/>
        </p:nvSpPr>
        <p:spPr>
          <a:xfrm>
            <a:off x="609585" y="2430959"/>
            <a:ext cx="3454314" cy="38100"/>
          </a:xfrm>
          <a:prstGeom prst="rect">
            <a:avLst/>
          </a:prstGeom>
          <a:solidFill>
            <a:srgbClr val="176FC1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838179" y="2697659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Возврат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3264495"/>
            <a:ext cx="2997125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После каждого этапа возможен возврат на предыдущий для исправления обнаруженных ошибок.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8691" y="2430959"/>
            <a:ext cx="3454314" cy="2875459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Shape 8"/>
          <p:cNvSpPr/>
          <p:nvPr/>
        </p:nvSpPr>
        <p:spPr>
          <a:xfrm>
            <a:off x="4368691" y="2430959"/>
            <a:ext cx="3454314" cy="38100"/>
          </a:xfrm>
          <a:prstGeom prst="rect">
            <a:avLst/>
          </a:prstGeom>
          <a:solidFill>
            <a:srgbClr val="176FC1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1" name="Text 9"/>
          <p:cNvSpPr/>
          <p:nvPr/>
        </p:nvSpPr>
        <p:spPr>
          <a:xfrm>
            <a:off x="4597285" y="2697659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Проверка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7285" y="3264495"/>
            <a:ext cx="2997125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На каждой стадии проверяют и валидируют результаты: они должны соответствовать требованиям и потребностям заказчика.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7797" y="2430959"/>
            <a:ext cx="3454314" cy="2875459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4" name="Shape 12"/>
          <p:cNvSpPr/>
          <p:nvPr/>
        </p:nvSpPr>
        <p:spPr>
          <a:xfrm>
            <a:off x="8127797" y="2430959"/>
            <a:ext cx="3454314" cy="38100"/>
          </a:xfrm>
          <a:prstGeom prst="rect">
            <a:avLst/>
          </a:prstGeom>
          <a:solidFill>
            <a:srgbClr val="176FC1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8356391" y="2697659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Перекрытие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56391" y="3264495"/>
            <a:ext cx="2997125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Допустимо перекрытие этапов: часть следующей работы начинается до полного завершения предыдущей.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9585" y="5903020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Последовательность сохраняется, но ошибки можно исправлять раньше.</a:t>
            </a:r>
            <a:endParaRPr lang="en-US" sz="20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B3CA9DF-4378-525A-4081-3F9EC05C0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CA3E349-0A93-2471-27AF-04111D724822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3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НОРМАТИВНАЯ ОСНОВА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Какие ГОСТы описывают жизненный цикл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13074"/>
          <a:ext cx="10972526" cy="3466815"/>
        </p:xfrm>
        <a:graphic>
          <a:graphicData uri="http://schemas.openxmlformats.org/drawingml/2006/table">
            <a:tbl>
              <a:tblPr/>
              <a:tblGrid>
                <a:gridCol w="4937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4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729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Стандарт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729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Область описания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Р ИСО/МЭК 12207-2010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Процессы жизненного цикла программных средств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34.601-90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Стадии создания автоматизированных систем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19.102-77 (ЕСПД)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Стадии разработки программ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Р ИСО/МЭК 15288-2005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Жизненный цикл систем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058694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Стандарты описывают процессы и стадии; они не являются названием одной конкретной модели разработки.</a:t>
            </a:r>
            <a:endParaRPr lang="en-US" sz="11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7FAA38-B06C-A19D-EBCF-9F525CEE4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2CE1CB-D297-2686-73D9-0447B079C847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ДОКУМЕНТИРОВАНИЕ РЕЗУЛЬТАТОВ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Документы на каждом этапе: ГОСТы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13074"/>
          <a:ext cx="10972526" cy="3466815"/>
        </p:xfrm>
        <a:graphic>
          <a:graphicData uri="http://schemas.openxmlformats.org/drawingml/2006/table">
            <a:tbl>
              <a:tblPr/>
              <a:tblGrid>
                <a:gridCol w="307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729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Стандарт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729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Документ или состав документов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729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Применение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34.602-89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Техническое задание на АС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Анализ требований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19.201-78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Техническое задание на программу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Анализ требований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19.301-79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Программа и методика испытаний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Тестирование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ГОСТ 19.101-77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Виды программных документов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4444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Документация по этапам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90495" marB="19049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09585" y="6058694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ТЗ задаёт основу проверки; программа и методика испытаний определяют, как её проводить.</a:t>
            </a:r>
            <a:endParaRPr lang="en-US" sz="11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256DC0B-F8CD-09D7-CF75-6137A4E1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DA1D6F-B681-EB14-FD89-A44F6A4E376A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ОБЩАЯ СХЕМА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Шесть этапов модели</a:t>
            </a:r>
            <a:endParaRPr lang="en-US" sz="34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7406" y="1548606"/>
            <a:ext cx="8676883" cy="3333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377658"/>
            <a:ext cx="8676883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 каждом этапе проверяют результат; при необходимости уточняют предыдущий</a:t>
            </a:r>
            <a:endParaRPr lang="en-US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5BFD2-2147-FDAE-BA3F-60E64D7C2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536635-D4D4-B111-8B19-616A242C06DD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6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609585" y="609600"/>
            <a:ext cx="3047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ЭТАП МОДЕЛИ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78185"/>
            <a:ext cx="243833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0A819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8200" dirty="0"/>
          </a:p>
        </p:txBody>
      </p:sp>
      <p:sp>
        <p:nvSpPr>
          <p:cNvPr id="5" name="Shape 3"/>
          <p:cNvSpPr/>
          <p:nvPr/>
        </p:nvSpPr>
        <p:spPr>
          <a:xfrm>
            <a:off x="609585" y="2217539"/>
            <a:ext cx="2438339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609585" y="2738338"/>
            <a:ext cx="2438339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Анализ требований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67093" y="609600"/>
            <a:ext cx="731501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1. Анализ требований фиксирует, что строим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267093" y="1864618"/>
            <a:ext cx="7315017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4267093" y="2213967"/>
            <a:ext cx="73150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Сбор и анализ требований заказчика.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Техническое задание по ГОСТ 34.602-89 или 19.201-78.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67093" y="4199136"/>
            <a:ext cx="7315017" cy="1668959"/>
          </a:xfrm>
          <a:prstGeom prst="roundRect">
            <a:avLst>
              <a:gd name="adj" fmla="val 12784"/>
            </a:avLst>
          </a:prstGeom>
          <a:solidFill>
            <a:srgbClr val="E3F3F5"/>
          </a:solidFill>
          <a:ln w="6350">
            <a:solidFill>
              <a:srgbClr val="BFD9DE"/>
            </a:solidFill>
            <a:prstDash val="solid"/>
          </a:ln>
          <a:effectLst>
            <a:outerShdw blurRad="127" dist="11430" dir="5400000" algn="bl" rotWithShape="0">
              <a:srgbClr val="07293A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4552836" y="4484886"/>
            <a:ext cx="70292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РЕЗУЛЬТАТ ЭТАПА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2836" y="4753471"/>
            <a:ext cx="6743531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Утверждённое ТЗ и согласованные требования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67093" y="6058595"/>
            <a:ext cx="7924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ТЗ становится основой проектирования и последующей проверки.</a:t>
            </a:r>
            <a:endParaRPr lang="en-US" sz="11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59EDDF7-5669-2748-841F-C2B6DBC5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C4BB64-882F-C22C-7895-A2466D8FA837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7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609585" y="609600"/>
            <a:ext cx="426709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ЭТАП МОДЕЛИ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78185"/>
            <a:ext cx="365750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0A819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8200" dirty="0"/>
          </a:p>
        </p:txBody>
      </p:sp>
      <p:sp>
        <p:nvSpPr>
          <p:cNvPr id="5" name="Shape 3"/>
          <p:cNvSpPr/>
          <p:nvPr/>
        </p:nvSpPr>
        <p:spPr>
          <a:xfrm>
            <a:off x="507986" y="2217539"/>
            <a:ext cx="2863530" cy="45719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609585" y="2738338"/>
            <a:ext cx="365750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Проектирование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77223" y="609600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2. Проектирование определяет, как строим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277223" y="1864618"/>
            <a:ext cx="609584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4277223" y="2213967"/>
            <a:ext cx="609584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Архитектура, модули, интерфейсы, структура данных.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Эскизный и технический проект (ГОСТ 34.601-90).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77223" y="4600873"/>
            <a:ext cx="6095848" cy="1267222"/>
          </a:xfrm>
          <a:prstGeom prst="roundRect">
            <a:avLst>
              <a:gd name="adj" fmla="val 16836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07293A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4569315" y="4892973"/>
            <a:ext cx="580375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РЕЗУЛЬТАТ ЭТАПА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9315" y="5161558"/>
            <a:ext cx="551166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Проектная документация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77223" y="6058595"/>
            <a:ext cx="67054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Если требования неоднозначны, выполняют возврат к их анализу.</a:t>
            </a:r>
            <a:endParaRPr lang="en-US" sz="11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76038E5-A620-8952-6030-1BD18C1D3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0F7714-F380-BB85-AE9C-188032D2E417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609585" y="609600"/>
            <a:ext cx="3047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ЭТАП МОДЕЛИ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78185"/>
            <a:ext cx="243833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0A819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8200" dirty="0"/>
          </a:p>
        </p:txBody>
      </p:sp>
      <p:sp>
        <p:nvSpPr>
          <p:cNvPr id="5" name="Shape 3"/>
          <p:cNvSpPr/>
          <p:nvPr/>
        </p:nvSpPr>
        <p:spPr>
          <a:xfrm>
            <a:off x="609585" y="2217539"/>
            <a:ext cx="2438339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609585" y="2738338"/>
            <a:ext cx="243833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Реализация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67093" y="609600"/>
            <a:ext cx="731501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3. Реализация превращает проект в код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267093" y="1864618"/>
            <a:ext cx="7315017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4267093" y="2213967"/>
            <a:ext cx="73150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Программирование модулей, модульное тестирование.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Рабочая документация и рабочий проект.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67093" y="4186436"/>
            <a:ext cx="7315017" cy="1681659"/>
          </a:xfrm>
          <a:prstGeom prst="roundRect">
            <a:avLst>
              <a:gd name="adj" fmla="val 12687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07293A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4559186" y="4478536"/>
            <a:ext cx="7022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РЕЗУЛЬТАТ ЭТАПА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9186" y="4747121"/>
            <a:ext cx="673083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Исходный код и программная документация (ЕСПД)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67093" y="6058595"/>
            <a:ext cx="7924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Ошибки проектных решений требуют возврата к проектированию.</a:t>
            </a:r>
            <a:endParaRPr lang="en-US" sz="11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BB2E316-56A9-E7EF-C451-D2C400CF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2B7F9D-F218-C464-BA37-B20570623554}"/>
              </a:ext>
            </a:extLst>
          </p:cNvPr>
          <p:cNvSpPr txBox="1"/>
          <p:nvPr/>
        </p:nvSpPr>
        <p:spPr>
          <a:xfrm>
            <a:off x="11734800" y="6390640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9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609585" y="609600"/>
            <a:ext cx="3047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ЭТАП МОДЕЛИ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78185"/>
            <a:ext cx="243833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0A819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8200" dirty="0"/>
          </a:p>
        </p:txBody>
      </p:sp>
      <p:sp>
        <p:nvSpPr>
          <p:cNvPr id="5" name="Shape 3"/>
          <p:cNvSpPr/>
          <p:nvPr/>
        </p:nvSpPr>
        <p:spPr>
          <a:xfrm>
            <a:off x="609585" y="2217539"/>
            <a:ext cx="2438339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609585" y="2738338"/>
            <a:ext cx="2438339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Тестирование и интеграция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67093" y="609600"/>
            <a:ext cx="731501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4. Тестирование проверяет соответствие ТЗ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267093" y="1864618"/>
            <a:ext cx="7315017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4267093" y="2213967"/>
            <a:ext cx="73150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Интеграция модулей, системные и приёмочные испытания.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Программа и методика испытаний по ГОСТ 19.301-79.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67093" y="4186436"/>
            <a:ext cx="7315017" cy="1681659"/>
          </a:xfrm>
          <a:prstGeom prst="roundRect">
            <a:avLst>
              <a:gd name="adj" fmla="val 12687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07293A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4559186" y="4478536"/>
            <a:ext cx="7022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РЕЗУЛЬТАТ ЭТАПА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9186" y="4747121"/>
            <a:ext cx="673083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Протоколы испытаний, список устранённых дефектов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67093" y="6058595"/>
            <a:ext cx="7924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Обнаруженные дефекты возвращают в реализацию; исправления проверяют повторно.</a:t>
            </a:r>
            <a:endParaRPr lang="en-US" sz="11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0DFA39-D370-B2F9-8247-56B7B0D82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465A67-F300-C6F0-89C3-DBC9E6CBC425}"/>
              </a:ext>
            </a:extLst>
          </p:cNvPr>
          <p:cNvSpPr txBox="1"/>
          <p:nvPr/>
        </p:nvSpPr>
        <p:spPr>
          <a:xfrm>
            <a:off x="11582110" y="6390640"/>
            <a:ext cx="47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10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1122-C4DC-0AD8-22C3-80ABD106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5B2905-FE1A-EE99-1397-B96463464DEC}"/>
              </a:ext>
            </a:extLst>
          </p:cNvPr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1BBB6A-CE4F-DC7A-6E57-3507F0885D9F}"/>
              </a:ext>
            </a:extLst>
          </p:cNvPr>
          <p:cNvSpPr/>
          <p:nvPr/>
        </p:nvSpPr>
        <p:spPr>
          <a:xfrm>
            <a:off x="609585" y="609600"/>
            <a:ext cx="3047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ЭТАП МОДЕЛИ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026911-4BB8-07D7-B059-CCCBC4FED132}"/>
              </a:ext>
            </a:extLst>
          </p:cNvPr>
          <p:cNvSpPr/>
          <p:nvPr/>
        </p:nvSpPr>
        <p:spPr>
          <a:xfrm>
            <a:off x="609585" y="878185"/>
            <a:ext cx="243833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ru-RU" sz="8200" kern="100" spc="-287" dirty="0">
                <a:solidFill>
                  <a:srgbClr val="0A8199"/>
                </a:solidFill>
                <a:latin typeface="Montserrat SemiBold" pitchFamily="34" charset="0"/>
              </a:rPr>
              <a:t>5</a:t>
            </a:r>
            <a:endParaRPr lang="en-US" sz="8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62F78C-FE27-3749-882F-1B5F2013A47F}"/>
              </a:ext>
            </a:extLst>
          </p:cNvPr>
          <p:cNvSpPr/>
          <p:nvPr/>
        </p:nvSpPr>
        <p:spPr>
          <a:xfrm>
            <a:off x="609585" y="2217539"/>
            <a:ext cx="2438339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790797-2ECC-5E07-ECD3-1BA10CC4A183}"/>
              </a:ext>
            </a:extLst>
          </p:cNvPr>
          <p:cNvSpPr/>
          <p:nvPr/>
        </p:nvSpPr>
        <p:spPr>
          <a:xfrm>
            <a:off x="609585" y="2738338"/>
            <a:ext cx="2438339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Внедрение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6FEDF6-482A-5C9A-EC99-A470F359825F}"/>
              </a:ext>
            </a:extLst>
          </p:cNvPr>
          <p:cNvSpPr/>
          <p:nvPr/>
        </p:nvSpPr>
        <p:spPr>
          <a:xfrm>
            <a:off x="4267093" y="609600"/>
            <a:ext cx="731501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ru-RU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.</a:t>
            </a:r>
            <a:r>
              <a:rPr lang="ru-RU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Внедрение вводит систему в эксплуатацию  </a:t>
            </a: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</a:t>
            </a:r>
            <a:endParaRPr lang="en-US" sz="3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107D41C-8143-FF9F-0795-311209B9ACCC}"/>
              </a:ext>
            </a:extLst>
          </p:cNvPr>
          <p:cNvSpPr/>
          <p:nvPr/>
        </p:nvSpPr>
        <p:spPr>
          <a:xfrm>
            <a:off x="4267093" y="1864618"/>
            <a:ext cx="7315017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E847C5-B5CB-0FCD-5E80-555F95A0C50E}"/>
              </a:ext>
            </a:extLst>
          </p:cNvPr>
          <p:cNvSpPr/>
          <p:nvPr/>
        </p:nvSpPr>
        <p:spPr>
          <a:xfrm>
            <a:off x="4267093" y="2213967"/>
            <a:ext cx="7315017" cy="83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Обучение пользователей и персонала</a:t>
            </a: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Установка, настройка и миграция данных</a:t>
            </a: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.</a:t>
            </a:r>
            <a:endParaRPr lang="ru-RU" sz="1700" dirty="0">
              <a:solidFill>
                <a:srgbClr val="24444F"/>
              </a:solidFill>
              <a:latin typeface="Noto Sans Light" pitchFamily="34" charset="0"/>
              <a:ea typeface="Noto Sans Light" pitchFamily="34" charset="-122"/>
              <a:cs typeface="Noto Sans Light" pitchFamily="34" charset="-120"/>
            </a:endParaRP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Опытная эксплуатация и сдача системы.</a:t>
            </a:r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BFB017-170B-2EB7-D83B-EE844B11C2A4}"/>
              </a:ext>
            </a:extLst>
          </p:cNvPr>
          <p:cNvSpPr/>
          <p:nvPr/>
        </p:nvSpPr>
        <p:spPr>
          <a:xfrm>
            <a:off x="4267093" y="4186436"/>
            <a:ext cx="7315017" cy="1681659"/>
          </a:xfrm>
          <a:prstGeom prst="roundRect">
            <a:avLst>
              <a:gd name="adj" fmla="val 12687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07293A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693024-07AF-FC33-6719-89E8069A78E5}"/>
              </a:ext>
            </a:extLst>
          </p:cNvPr>
          <p:cNvSpPr/>
          <p:nvPr/>
        </p:nvSpPr>
        <p:spPr>
          <a:xfrm>
            <a:off x="4559186" y="4478536"/>
            <a:ext cx="7022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РЕЗУЛЬТАТ ЭТАПА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E76EFF-D358-EFD0-AE2D-58B6F18BCC25}"/>
              </a:ext>
            </a:extLst>
          </p:cNvPr>
          <p:cNvSpPr/>
          <p:nvPr/>
        </p:nvSpPr>
        <p:spPr>
          <a:xfrm>
            <a:off x="4559186" y="4747121"/>
            <a:ext cx="673083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7EFFC68-AE7C-9F83-B954-9979EF209F96}"/>
              </a:ext>
            </a:extLst>
          </p:cNvPr>
          <p:cNvSpPr/>
          <p:nvPr/>
        </p:nvSpPr>
        <p:spPr>
          <a:xfrm>
            <a:off x="4267093" y="6058595"/>
            <a:ext cx="7924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Ошибки внедрения требуют возврата к тестированию или доработке реализации</a:t>
            </a: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3CAD6D7-DCC9-BD4E-D3FC-9469E8F3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F59B20-761A-17D7-8B9E-2746C58BCE6C}"/>
              </a:ext>
            </a:extLst>
          </p:cNvPr>
          <p:cNvSpPr txBox="1"/>
          <p:nvPr/>
        </p:nvSpPr>
        <p:spPr>
          <a:xfrm>
            <a:off x="11582110" y="6390640"/>
            <a:ext cx="47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11</a:t>
            </a:r>
            <a:endParaRPr lang="ru-RU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455DA27-8DBA-45FF-E568-B9ED940747DA}"/>
              </a:ext>
            </a:extLst>
          </p:cNvPr>
          <p:cNvSpPr/>
          <p:nvPr/>
        </p:nvSpPr>
        <p:spPr>
          <a:xfrm>
            <a:off x="4559186" y="4740356"/>
            <a:ext cx="673083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Внедрённая система, акты внедрения, обученные пользователи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5069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685A-1BA1-6904-BADF-D287878E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E8BDD2-68E1-1D44-1082-9EB90FD03205}"/>
              </a:ext>
            </a:extLst>
          </p:cNvPr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3F3F5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6B39C7-F07A-52B8-A2F8-8ED89360F9D1}"/>
              </a:ext>
            </a:extLst>
          </p:cNvPr>
          <p:cNvSpPr/>
          <p:nvPr/>
        </p:nvSpPr>
        <p:spPr>
          <a:xfrm>
            <a:off x="609585" y="609600"/>
            <a:ext cx="3047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ЭТАП МОДЕЛИ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1B4C4C-40F1-209F-1292-48BD4154EA9D}"/>
              </a:ext>
            </a:extLst>
          </p:cNvPr>
          <p:cNvSpPr/>
          <p:nvPr/>
        </p:nvSpPr>
        <p:spPr>
          <a:xfrm>
            <a:off x="609585" y="878185"/>
            <a:ext cx="2438339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ru-RU" sz="8200" kern="100" spc="-287" dirty="0">
                <a:solidFill>
                  <a:srgbClr val="0A8199"/>
                </a:solidFill>
                <a:latin typeface="Montserrat SemiBold" pitchFamily="34" charset="0"/>
              </a:rPr>
              <a:t>6</a:t>
            </a:r>
            <a:endParaRPr lang="en-US" sz="8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A02B94-E681-B305-ED94-2E6B786FAAA0}"/>
              </a:ext>
            </a:extLst>
          </p:cNvPr>
          <p:cNvSpPr/>
          <p:nvPr/>
        </p:nvSpPr>
        <p:spPr>
          <a:xfrm>
            <a:off x="609585" y="2217539"/>
            <a:ext cx="2438339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F730EF-30D2-C2D4-009E-93A5E9665D5F}"/>
              </a:ext>
            </a:extLst>
          </p:cNvPr>
          <p:cNvSpPr/>
          <p:nvPr/>
        </p:nvSpPr>
        <p:spPr>
          <a:xfrm>
            <a:off x="548625" y="2738338"/>
            <a:ext cx="2600975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Сопровождение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F874EB-AE1C-9B36-0C03-0574298CE9C6}"/>
              </a:ext>
            </a:extLst>
          </p:cNvPr>
          <p:cNvSpPr/>
          <p:nvPr/>
        </p:nvSpPr>
        <p:spPr>
          <a:xfrm>
            <a:off x="4267093" y="609600"/>
            <a:ext cx="731501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ru-RU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r>
              <a:rPr lang="en-US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. </a:t>
            </a:r>
            <a:r>
              <a:rPr lang="ru-RU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Сопровождение поддерживает работоспособность системы</a:t>
            </a:r>
            <a:endParaRPr lang="en-US" sz="3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0D5219A-B41E-41F7-F3F4-B53523B8D90C}"/>
              </a:ext>
            </a:extLst>
          </p:cNvPr>
          <p:cNvSpPr/>
          <p:nvPr/>
        </p:nvSpPr>
        <p:spPr>
          <a:xfrm>
            <a:off x="4267093" y="1864618"/>
            <a:ext cx="7315017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F3EB59-0D1F-DEED-3F5B-498DE654E983}"/>
              </a:ext>
            </a:extLst>
          </p:cNvPr>
          <p:cNvSpPr/>
          <p:nvPr/>
        </p:nvSpPr>
        <p:spPr>
          <a:xfrm>
            <a:off x="4267093" y="2213966"/>
            <a:ext cx="7315017" cy="879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Гарантийное и послегарантийное обслуживание</a:t>
            </a: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Устранение дефектов и доработки</a:t>
            </a: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.</a:t>
            </a:r>
            <a:endParaRPr lang="ru-RU" sz="1700" dirty="0">
              <a:solidFill>
                <a:srgbClr val="24444F"/>
              </a:solidFill>
              <a:latin typeface="Noto Sans Light" pitchFamily="34" charset="0"/>
              <a:ea typeface="Noto Sans Light" pitchFamily="34" charset="-122"/>
              <a:cs typeface="Noto Sans Light" pitchFamily="34" charset="-120"/>
            </a:endParaRP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Обновление версий и документации.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61BE76-9EDA-6B32-9449-97C671AE218E}"/>
              </a:ext>
            </a:extLst>
          </p:cNvPr>
          <p:cNvSpPr/>
          <p:nvPr/>
        </p:nvSpPr>
        <p:spPr>
          <a:xfrm>
            <a:off x="4267093" y="4186436"/>
            <a:ext cx="7315017" cy="1681659"/>
          </a:xfrm>
          <a:prstGeom prst="roundRect">
            <a:avLst>
              <a:gd name="adj" fmla="val 12687"/>
            </a:avLst>
          </a:prstGeom>
          <a:solidFill>
            <a:srgbClr val="E3F3F5"/>
          </a:solidFill>
          <a:ln w="12700">
            <a:solidFill>
              <a:srgbClr val="07293A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07293A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7753A5-6AF3-7C79-1738-118D9EC2A027}"/>
              </a:ext>
            </a:extLst>
          </p:cNvPr>
          <p:cNvSpPr/>
          <p:nvPr/>
        </p:nvSpPr>
        <p:spPr>
          <a:xfrm>
            <a:off x="4559186" y="4478536"/>
            <a:ext cx="70229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2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РЕЗУЛЬТАТ ЭТАПА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8ACBBB8-41E6-B694-5861-C961CD4B1BA1}"/>
              </a:ext>
            </a:extLst>
          </p:cNvPr>
          <p:cNvSpPr/>
          <p:nvPr/>
        </p:nvSpPr>
        <p:spPr>
          <a:xfrm>
            <a:off x="4559186" y="4747121"/>
            <a:ext cx="673083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9ED998-8F97-B81D-DE97-655E36CD28A6}"/>
              </a:ext>
            </a:extLst>
          </p:cNvPr>
          <p:cNvSpPr/>
          <p:nvPr/>
        </p:nvSpPr>
        <p:spPr>
          <a:xfrm>
            <a:off x="4267093" y="6058595"/>
            <a:ext cx="7924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Изменения требований могут запускать новый цикл анализа требований</a:t>
            </a:r>
            <a:r>
              <a:rPr lang="en-US" sz="1150" kern="100" spc="17" dirty="0">
                <a:solidFill>
                  <a:srgbClr val="385F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CCC39CD-A723-1580-7862-FC250313F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CD456F-56AA-033F-C9C1-0675EE33E54F}"/>
              </a:ext>
            </a:extLst>
          </p:cNvPr>
          <p:cNvSpPr txBox="1"/>
          <p:nvPr/>
        </p:nvSpPr>
        <p:spPr>
          <a:xfrm>
            <a:off x="11582110" y="6390640"/>
            <a:ext cx="47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24444F"/>
                </a:solidFill>
                <a:effectLst/>
                <a:uLnTx/>
                <a:uFillTx/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12</a:t>
            </a:r>
            <a:endParaRPr lang="ru-RU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FBB018F-86EA-A7CF-1658-A0D32EF68C89}"/>
              </a:ext>
            </a:extLst>
          </p:cNvPr>
          <p:cNvSpPr/>
          <p:nvPr/>
        </p:nvSpPr>
        <p:spPr>
          <a:xfrm>
            <a:off x="4559185" y="4749522"/>
            <a:ext cx="673083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400" kern="100" spc="-6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Стабильно работающая система, обновления, исправленные дефекты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989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C493-1256-DB86-CD21-BE725062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D7D13F4-BD44-1A3B-DA3B-2F3EB4CF1419}"/>
              </a:ext>
            </a:extLst>
          </p:cNvPr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ru-RU" sz="3400" kern="100" spc="-85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Заключение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27C62F-EC09-FED6-8069-50BF798A901A}"/>
              </a:ext>
            </a:extLst>
          </p:cNvPr>
          <p:cNvSpPr/>
          <p:nvPr/>
        </p:nvSpPr>
        <p:spPr>
          <a:xfrm>
            <a:off x="609585" y="167550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A559D-7F27-01D5-8A80-8F6CDCEA10C6}"/>
              </a:ext>
            </a:extLst>
          </p:cNvPr>
          <p:cNvSpPr/>
          <p:nvPr/>
        </p:nvSpPr>
        <p:spPr>
          <a:xfrm>
            <a:off x="609585" y="6058694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E179F2-BA9D-6BA0-D518-2F93A6703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507450"/>
            <a:ext cx="1280271" cy="35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E42F4C-B139-046D-D6D6-2B885989601E}"/>
              </a:ext>
            </a:extLst>
          </p:cNvPr>
          <p:cNvSpPr txBox="1"/>
          <p:nvPr/>
        </p:nvSpPr>
        <p:spPr>
          <a:xfrm>
            <a:off x="11582111" y="6390640"/>
            <a:ext cx="477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13</a:t>
            </a:r>
            <a:endParaRPr lang="ru-RU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7FCBEC2-F7B4-1CC1-5290-2C09CF8BDC29}"/>
              </a:ext>
            </a:extLst>
          </p:cNvPr>
          <p:cNvSpPr/>
          <p:nvPr/>
        </p:nvSpPr>
        <p:spPr>
          <a:xfrm>
            <a:off x="609585" y="2738338"/>
            <a:ext cx="7716268" cy="2227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endParaRPr lang="ru-RU" sz="2400" kern="100" spc="-60" dirty="0">
              <a:solidFill>
                <a:srgbClr val="24444F"/>
              </a:solidFill>
              <a:latin typeface="Montserrat Medium" pitchFamily="34" charset="0"/>
              <a:ea typeface="Montserrat Medium" pitchFamily="34" charset="-122"/>
              <a:cs typeface="Montserrat Medium" pitchFamily="34" charset="-12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62CEC10-7326-C639-C5A6-5E1B1DD8DB9A}"/>
              </a:ext>
            </a:extLst>
          </p:cNvPr>
          <p:cNvSpPr/>
          <p:nvPr/>
        </p:nvSpPr>
        <p:spPr>
          <a:xfrm>
            <a:off x="609585" y="2870200"/>
            <a:ext cx="10614675" cy="1963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Модифицированный водопад сочетает последовательность этапов с гибкостью обратных связей. Это позволяет выявлять и исправлять ошибки на ранних стадиях, снижая риски и стоимость переработки</a:t>
            </a:r>
            <a:r>
              <a:rPr lang="en-US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.</a:t>
            </a:r>
            <a:b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</a:b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ru-RU" sz="1700" dirty="0">
                <a:solidFill>
                  <a:srgbClr val="24444F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Модель сохраняет документирование результатов и соответствие стандартам, что делает её применимой для проектов с чёткими требованиями и возможностью итеративного уточнения.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8982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D4FF-F5E3-4949-4512-B4CE7E81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257DB5-076B-F449-4605-71FE8C210BF9}"/>
              </a:ext>
            </a:extLst>
          </p:cNvPr>
          <p:cNvSpPr/>
          <p:nvPr/>
        </p:nvSpPr>
        <p:spPr>
          <a:xfrm>
            <a:off x="864081" y="939800"/>
            <a:ext cx="1015339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385F6C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ЖИЗНЕННЫЙ ЦИКЛ ПРОГРАММНОГО ОБЕСПЕЧЕНИЯ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CB49E1-4E21-9FAE-E261-F6807BB76584}"/>
              </a:ext>
            </a:extLst>
          </p:cNvPr>
          <p:cNvSpPr/>
          <p:nvPr/>
        </p:nvSpPr>
        <p:spPr>
          <a:xfrm>
            <a:off x="815955" y="1208385"/>
            <a:ext cx="9543811" cy="193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Модифицированный водопад: модель жизненного цикла ПО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3BFC4F-6CCD-520F-C911-227E67B82658}"/>
              </a:ext>
            </a:extLst>
          </p:cNvPr>
          <p:cNvSpPr/>
          <p:nvPr/>
        </p:nvSpPr>
        <p:spPr>
          <a:xfrm>
            <a:off x="815955" y="3486348"/>
            <a:ext cx="5624950" cy="45719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41297E-9575-30A0-C747-BB18A7FBD524}"/>
              </a:ext>
            </a:extLst>
          </p:cNvPr>
          <p:cNvSpPr/>
          <p:nvPr/>
        </p:nvSpPr>
        <p:spPr>
          <a:xfrm>
            <a:off x="815955" y="4007148"/>
            <a:ext cx="954381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Последовательные этапы, обратные связи и документированные результаты</a:t>
            </a:r>
            <a:endParaRPr lang="en-US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3B6A2B-40A7-83B3-133E-A5EEF0BB9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02960"/>
            <a:ext cx="12191999" cy="955041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EAD1338A-D794-B3DA-2523-33CE5B11352D}"/>
              </a:ext>
            </a:extLst>
          </p:cNvPr>
          <p:cNvSpPr/>
          <p:nvPr/>
        </p:nvSpPr>
        <p:spPr>
          <a:xfrm>
            <a:off x="815955" y="5178583"/>
            <a:ext cx="3098318" cy="11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Выполнили:</a:t>
            </a:r>
            <a:b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</a:br>
            <a: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Шишковец Андрей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ru-RU" sz="2400" kern="100" spc="-120" dirty="0">
                <a:solidFill>
                  <a:srgbClr val="07293A"/>
                </a:solidFill>
                <a:latin typeface="Montserrat SemiBold" pitchFamily="34" charset="0"/>
              </a:rPr>
              <a:t>Турусинов Роман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126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733</Words>
  <Application>Microsoft Office PowerPoint</Application>
  <PresentationFormat>Широкоэкранный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Noto Sans Light</vt:lpstr>
      <vt:lpstr>Noto Sans Medium</vt:lpstr>
      <vt:lpstr>Montserrat SemiBold</vt:lpstr>
      <vt:lpstr>Noto Sans</vt:lpstr>
      <vt:lpstr>Noto Sans SemiBold</vt:lpstr>
      <vt:lpstr>Montserrat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Андрей Шишковец</cp:lastModifiedBy>
  <cp:revision>8</cp:revision>
  <dcterms:created xsi:type="dcterms:W3CDTF">2026-10-05T08:33:17Z</dcterms:created>
  <dcterms:modified xsi:type="dcterms:W3CDTF">2026-10-07T07:32:33Z</dcterms:modified>
</cp:coreProperties>
</file>